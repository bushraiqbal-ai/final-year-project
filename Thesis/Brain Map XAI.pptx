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A509-E5B8-4C85-A55C-F6D328F00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3109" y="132550"/>
            <a:ext cx="8915399" cy="2262781"/>
          </a:xfrm>
        </p:spPr>
        <p:txBody>
          <a:bodyPr/>
          <a:lstStyle/>
          <a:p>
            <a:pPr algn="ctr"/>
            <a:r>
              <a:rPr lang="en-US" dirty="0"/>
              <a:t>Brain Map XAI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4B122-19EA-48D9-A89C-DF86A5316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3109" y="2395331"/>
            <a:ext cx="8915399" cy="4204252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Students: </a:t>
            </a:r>
            <a:br>
              <a:rPr lang="en-US" b="1" dirty="0"/>
            </a:br>
            <a:br>
              <a:rPr lang="en-US" b="1" dirty="0"/>
            </a:br>
            <a:r>
              <a:rPr lang="en-US" sz="1400" b="1" dirty="0"/>
              <a:t>Bushra Iqbal</a:t>
            </a:r>
          </a:p>
          <a:p>
            <a:pPr algn="ctr"/>
            <a:r>
              <a:rPr lang="en-US" sz="1400" b="1" dirty="0" err="1"/>
              <a:t>Helia</a:t>
            </a:r>
            <a:r>
              <a:rPr lang="en-US" sz="1400" b="1" dirty="0"/>
              <a:t> Kareem</a:t>
            </a:r>
          </a:p>
          <a:p>
            <a:pPr algn="ctr"/>
            <a:r>
              <a:rPr lang="en-US" sz="1400" b="1" dirty="0" err="1"/>
              <a:t>Zulqarnain</a:t>
            </a:r>
            <a:r>
              <a:rPr lang="en-US" sz="1400" b="1" dirty="0"/>
              <a:t> </a:t>
            </a:r>
            <a:br>
              <a:rPr lang="en-US" sz="1400" b="1" dirty="0"/>
            </a:br>
            <a:br>
              <a:rPr lang="en-US" sz="1400" b="1" dirty="0"/>
            </a:br>
            <a:r>
              <a:rPr lang="en-US" b="1" dirty="0"/>
              <a:t>Supervisor : M. Shehzad</a:t>
            </a:r>
            <a:br>
              <a:rPr lang="en-US" b="1" dirty="0"/>
            </a:br>
            <a:br>
              <a:rPr lang="en-US" sz="1400" b="1" dirty="0"/>
            </a:br>
            <a:r>
              <a:rPr lang="en-US" b="1" dirty="0"/>
              <a:t>MNS University of Agriculture , Multan</a:t>
            </a:r>
            <a:br>
              <a:rPr lang="en-US" b="1" dirty="0"/>
            </a:br>
            <a:r>
              <a:rPr lang="en-US" b="1" dirty="0"/>
              <a:t>Session 2022-26</a:t>
            </a:r>
          </a:p>
        </p:txBody>
      </p:sp>
    </p:spTree>
    <p:extLst>
      <p:ext uri="{BB962C8B-B14F-4D97-AF65-F5344CB8AC3E}">
        <p14:creationId xmlns:p14="http://schemas.microsoft.com/office/powerpoint/2010/main" val="422253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EEA-F89D-426D-B24C-4BCDB4161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dirty="0"/>
              <a:t>Parkinson’s disease is a neurological disorder.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B14A6-A686-43DC-8DB3-699C36617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140764"/>
            <a:ext cx="8661884" cy="2770457"/>
          </a:xfrm>
        </p:spPr>
        <p:txBody>
          <a:bodyPr/>
          <a:lstStyle/>
          <a:p>
            <a:r>
              <a:rPr lang="en-US" dirty="0"/>
              <a:t>It affects movement, balance, and coordination. Early diagnosis is very important for treatment. Traditional diagnosis methods are slow and difficult. AI and Deep Learning can help in accurate detection.</a:t>
            </a:r>
          </a:p>
        </p:txBody>
      </p:sp>
    </p:spTree>
    <p:extLst>
      <p:ext uri="{BB962C8B-B14F-4D97-AF65-F5344CB8AC3E}">
        <p14:creationId xmlns:p14="http://schemas.microsoft.com/office/powerpoint/2010/main" val="355069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0520-2062-4E11-B609-3FDC9180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591D6-D222-415E-9DB3-314E903CE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systems have low </a:t>
            </a:r>
            <a:r>
              <a:rPr lang="en-US" dirty="0" err="1"/>
              <a:t>accuracy.Most</a:t>
            </a:r>
            <a:r>
              <a:rPr lang="en-US" dirty="0"/>
              <a:t> AI models are not </a:t>
            </a:r>
            <a:r>
              <a:rPr lang="en-US" dirty="0" err="1"/>
              <a:t>explainable.Binary</a:t>
            </a:r>
            <a:r>
              <a:rPr lang="en-US" dirty="0"/>
              <a:t> classification only (healthy/diseased).</a:t>
            </a:r>
            <a:r>
              <a:rPr lang="en-US" dirty="0" err="1"/>
              <a:t>ObjectivesDevelop</a:t>
            </a:r>
            <a:r>
              <a:rPr lang="en-US" dirty="0"/>
              <a:t> accurate AI </a:t>
            </a:r>
            <a:r>
              <a:rPr lang="en-US" dirty="0" err="1"/>
              <a:t>model.Perform</a:t>
            </a:r>
            <a:r>
              <a:rPr lang="en-US" dirty="0"/>
              <a:t> five-class </a:t>
            </a:r>
            <a:r>
              <a:rPr lang="en-US" dirty="0" err="1"/>
              <a:t>classification.Integrate</a:t>
            </a:r>
            <a:r>
              <a:rPr lang="en-US" dirty="0"/>
              <a:t> Explainable AI using Grad-</a:t>
            </a:r>
            <a:r>
              <a:rPr lang="en-US" dirty="0" err="1"/>
              <a:t>CAM.Assist</a:t>
            </a:r>
            <a:r>
              <a:rPr lang="en-US" dirty="0"/>
              <a:t> doctors in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910468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E5EB-BD09-4A4A-8EE0-FF0020973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233-A43D-4A57-A12E-A20A44BC0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Proposed Framework: C3BAM-SE-XAI v2Technologies UsedEfficientNet-B3CBAM </a:t>
            </a:r>
            <a:r>
              <a:rPr lang="en-US" dirty="0" err="1"/>
              <a:t>AttentionSE</a:t>
            </a:r>
            <a:r>
              <a:rPr lang="en-US" dirty="0"/>
              <a:t> </a:t>
            </a:r>
            <a:r>
              <a:rPr lang="en-US" dirty="0" err="1"/>
              <a:t>AttentionGrad</a:t>
            </a:r>
            <a:r>
              <a:rPr lang="en-US" dirty="0"/>
              <a:t>-CAM Explainable </a:t>
            </a:r>
            <a:r>
              <a:rPr lang="en-US" dirty="0" err="1"/>
              <a:t>AITest</a:t>
            </a:r>
            <a:r>
              <a:rPr lang="en-US" dirty="0"/>
              <a:t>-Time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Augmentation (TTA)</a:t>
            </a:r>
            <a:r>
              <a:rPr lang="en-US" dirty="0" err="1"/>
              <a:t>WorkflowMRI</a:t>
            </a:r>
            <a:r>
              <a:rPr lang="en-US" dirty="0"/>
              <a:t> Image → Preprocessing → AI Model → Classification → Heatmap Result</a:t>
            </a:r>
          </a:p>
        </p:txBody>
      </p:sp>
    </p:spTree>
    <p:extLst>
      <p:ext uri="{BB962C8B-B14F-4D97-AF65-F5344CB8AC3E}">
        <p14:creationId xmlns:p14="http://schemas.microsoft.com/office/powerpoint/2010/main" val="533598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C5A0-AA6C-4E28-9E09-184868C4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&amp; </a:t>
            </a:r>
            <a:r>
              <a:rPr lang="en-US" dirty="0" err="1"/>
              <a:t>MethodologyDataset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C9364-8DAE-4158-A20C-C5EA40589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Five Classes:</a:t>
            </a:r>
            <a:br>
              <a:rPr lang="en-US" dirty="0"/>
            </a:br>
            <a:r>
              <a:rPr lang="en-US" dirty="0"/>
              <a:t>Non-</a:t>
            </a:r>
            <a:r>
              <a:rPr lang="en-US" dirty="0" err="1"/>
              <a:t>DementedVery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Mild </a:t>
            </a:r>
            <a:r>
              <a:rPr lang="en-US" dirty="0" err="1"/>
              <a:t>DementedMild</a:t>
            </a:r>
            <a:br>
              <a:rPr lang="en-US" dirty="0"/>
            </a:br>
            <a:r>
              <a:rPr lang="en-US" dirty="0" err="1"/>
              <a:t>DementedModerate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DementedSevere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DementedMethodologyImage</a:t>
            </a:r>
            <a:r>
              <a:rPr lang="en-US" dirty="0"/>
              <a:t> </a:t>
            </a:r>
            <a:r>
              <a:rPr lang="en-US" dirty="0" err="1"/>
              <a:t>PreprocessingData</a:t>
            </a:r>
            <a:r>
              <a:rPr lang="en-US" dirty="0"/>
              <a:t> </a:t>
            </a:r>
            <a:r>
              <a:rPr lang="en-US" dirty="0" err="1"/>
              <a:t>AugmentationCNN</a:t>
            </a:r>
            <a:r>
              <a:rPr lang="en-US" dirty="0"/>
              <a:t> </a:t>
            </a:r>
            <a:r>
              <a:rPr lang="en-US" dirty="0" err="1"/>
              <a:t>TrainingFeature</a:t>
            </a:r>
            <a:r>
              <a:rPr lang="en-US" dirty="0"/>
              <a:t> </a:t>
            </a:r>
            <a:r>
              <a:rPr lang="en-US" dirty="0" err="1"/>
              <a:t>ExtractionExplainable</a:t>
            </a:r>
            <a:r>
              <a:rPr lang="en-US" dirty="0"/>
              <a:t> AI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59664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0F42-8FAF-49B5-B88B-8FED26A6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ResultsExperimental</a:t>
            </a:r>
            <a:r>
              <a:rPr lang="en-US" dirty="0"/>
              <a:t> </a:t>
            </a:r>
            <a:r>
              <a:rPr lang="en-US" dirty="0" err="1"/>
              <a:t>ResultsMetric</a:t>
            </a:r>
            <a:r>
              <a:rPr lang="en-US" dirty="0"/>
              <a:t>	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0FBFF-4F45-4A0E-8E4C-F9DC8DF16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Accuracy	98.72%</a:t>
            </a:r>
            <a:br>
              <a:rPr lang="en-US" dirty="0"/>
            </a:br>
            <a:r>
              <a:rPr lang="en-US" dirty="0"/>
              <a:t>Validation Accuracy	94.71%</a:t>
            </a:r>
            <a:br>
              <a:rPr lang="en-US" dirty="0"/>
            </a:br>
            <a:r>
              <a:rPr lang="en-US" dirty="0"/>
              <a:t>TTA Accuracy	95.06%</a:t>
            </a:r>
            <a:br>
              <a:rPr lang="en-US" dirty="0"/>
            </a:br>
            <a:r>
              <a:rPr lang="en-US" dirty="0"/>
              <a:t>Key </a:t>
            </a:r>
            <a:r>
              <a:rPr lang="en-US" dirty="0" err="1"/>
              <a:t>AchievementHigh</a:t>
            </a:r>
            <a:r>
              <a:rPr lang="en-US" dirty="0"/>
              <a:t> precision and F1-scoreBetter multi-class classification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27385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26347-F16E-4F9C-AFF4-74B2C6F8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Future </a:t>
            </a:r>
            <a:r>
              <a:rPr lang="en-US" dirty="0" err="1"/>
              <a:t>WorkAdvantages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700E7-5E4C-463E-B4F1-0BC840E26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Explainable </a:t>
            </a:r>
            <a:r>
              <a:rPr lang="en-US" dirty="0" err="1"/>
              <a:t>predictionsHigh</a:t>
            </a:r>
            <a:r>
              <a:rPr lang="en-US" dirty="0"/>
              <a:t> </a:t>
            </a:r>
            <a:r>
              <a:rPr lang="en-US" dirty="0" err="1"/>
              <a:t>accuracySupports</a:t>
            </a:r>
            <a:r>
              <a:rPr lang="en-US" dirty="0"/>
              <a:t> healthcare </a:t>
            </a:r>
            <a:r>
              <a:rPr lang="en-US" dirty="0" err="1"/>
              <a:t>professionalsFuture</a:t>
            </a:r>
            <a:r>
              <a:rPr lang="en-US" dirty="0"/>
              <a:t> </a:t>
            </a:r>
            <a:r>
              <a:rPr lang="en-US" dirty="0" err="1"/>
              <a:t>WorkReal</a:t>
            </a:r>
            <a:r>
              <a:rPr lang="en-US" dirty="0"/>
              <a:t> hospital </a:t>
            </a:r>
            <a:r>
              <a:rPr lang="en-US" dirty="0" err="1"/>
              <a:t>deploymentLarger</a:t>
            </a:r>
            <a:r>
              <a:rPr lang="en-US" dirty="0"/>
              <a:t> </a:t>
            </a:r>
            <a:r>
              <a:rPr lang="en-US" dirty="0" err="1"/>
              <a:t>datasetsMobile</a:t>
            </a:r>
            <a:r>
              <a:rPr lang="en-US" dirty="0"/>
              <a:t>/Web </a:t>
            </a:r>
            <a:r>
              <a:rPr lang="en-US" dirty="0" err="1"/>
              <a:t>integrationImproved</a:t>
            </a:r>
            <a:r>
              <a:rPr lang="en-US" dirty="0"/>
              <a:t> </a:t>
            </a:r>
            <a:r>
              <a:rPr lang="en-US" dirty="0" err="1"/>
              <a:t>explainability</a:t>
            </a:r>
            <a:r>
              <a:rPr lang="en-US" dirty="0"/>
              <a:t> features</a:t>
            </a:r>
          </a:p>
        </p:txBody>
      </p:sp>
    </p:spTree>
    <p:extLst>
      <p:ext uri="{BB962C8B-B14F-4D97-AF65-F5344CB8AC3E}">
        <p14:creationId xmlns:p14="http://schemas.microsoft.com/office/powerpoint/2010/main" val="499445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08595-501D-4DA2-929C-33AFCAF9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18D24-4270-454C-A3D0-85F6B8B5D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an explainable AI framework for Parkinson’s classification.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Combined EfficientNet-B3 with CBAM + SE </a:t>
            </a:r>
            <a:r>
              <a:rPr lang="en-US" dirty="0" err="1"/>
              <a:t>attention.Achieved</a:t>
            </a:r>
            <a:r>
              <a:rPr lang="en-US" dirty="0"/>
              <a:t> strong classification accuracy.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Grad-CAM improved transparency and trust.</a:t>
            </a:r>
          </a:p>
        </p:txBody>
      </p:sp>
    </p:spTree>
    <p:extLst>
      <p:ext uri="{BB962C8B-B14F-4D97-AF65-F5344CB8AC3E}">
        <p14:creationId xmlns:p14="http://schemas.microsoft.com/office/powerpoint/2010/main" val="76408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30DB-643E-4134-920D-F908E74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381966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5D154-EC82-45EF-B253-F7CEFF49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82382232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</TotalTime>
  <Words>260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Brain Map XAI</vt:lpstr>
      <vt:lpstr>Introduction Parkinson’s disease is a neurological disorder.  </vt:lpstr>
      <vt:lpstr>Problem Statement &amp; Objectives</vt:lpstr>
      <vt:lpstr>Proposed System</vt:lpstr>
      <vt:lpstr>Dataset &amp; MethodologyDataset</vt:lpstr>
      <vt:lpstr>ResultsExperimental ResultsMetric Result</vt:lpstr>
      <vt:lpstr>Advantages &amp; Future WorkAdvantages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Super</dc:creator>
  <cp:lastModifiedBy>Super</cp:lastModifiedBy>
  <cp:revision>3</cp:revision>
  <dcterms:created xsi:type="dcterms:W3CDTF">2026-05-13T09:01:14Z</dcterms:created>
  <dcterms:modified xsi:type="dcterms:W3CDTF">2026-05-13T09:12:44Z</dcterms:modified>
</cp:coreProperties>
</file>